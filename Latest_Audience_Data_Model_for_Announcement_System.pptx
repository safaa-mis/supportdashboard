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7373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Audience Data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22860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Announcement System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13232" y="29260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A business-facing segmentation layer based on Facility, Department, Work Category, Specialty and Job Name.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26680" y="1554480"/>
            <a:ext cx="1600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2F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13,527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employee records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64040" y="1554480"/>
            <a:ext cx="1600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2F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5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targeting dimensions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26680" y="3063240"/>
            <a:ext cx="1600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1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8C28"/>
                </a:solidFill>
              </a:rPr>
              <a:t>890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28C28"/>
                </a:solidFill>
              </a:rPr>
              <a:t>review queue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64040" y="3063240"/>
            <a:ext cx="1600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1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8C28"/>
                </a:solidFill>
              </a:rPr>
              <a:t>40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28C28"/>
                </a:solidFill>
              </a:rPr>
              <a:t>remaining unknown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" y="4160520"/>
            <a:ext cx="2514600" cy="329184"/>
          </a:xfrm>
          <a:prstGeom prst="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65D"/>
                </a:solidFill>
              </a:rPr>
              <a:t>Prepared for management review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13232" y="61722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Safaa Soliman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Move from inconsistent HR entries to clean, reusable audience targeting fields.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58400" y="653796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 Data Model | 2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85800" y="138988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1828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final audience fields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0" y="138988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9B6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0" y="1965960"/>
            <a:ext cx="2011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source records preserved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74920" y="138988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8C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1,530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74920" y="1965960"/>
            <a:ext cx="21488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blank categories recovered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0" y="138988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D28D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498080" y="1965960"/>
            <a:ext cx="1828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canonical specialties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3017520"/>
            <a:ext cx="10515600" cy="777240"/>
          </a:xfrm>
          <a:prstGeom prst="rect">
            <a:avLst/>
          </a:prstGeom>
          <a:solidFill>
            <a:srgbClr val="FFF1E3"/>
          </a:solidFill>
          <a:ln w="12700">
            <a:solidFill>
              <a:srgbClr val="F28C28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The latest model is designed for end users who need to select audiences quickly: by facility, working department, workforce category, specialty, job name, or any combination.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4160520"/>
            <a:ext cx="96012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• Keeps the HR source fields unchanged.
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• Creates business-friendly targeting fields for the Announcement System.
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• Maintains provenance so every value can be traced back to its source.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 model was revised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The final version reflects the latest management feedback and business terminology.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58400" y="653796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 Data Model | 3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31520" y="1298448"/>
            <a:ext cx="2880360" cy="10972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Previous interpretation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HR Department was treated as Department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703320" y="1847088"/>
            <a:ext cx="868680" cy="0"/>
          </a:xfrm>
          <a:prstGeom prst="line">
            <a:avLst/>
          </a:prstGeom>
          <a:noFill/>
          <a:ln w="19050">
            <a:solidFill>
              <a:srgbClr val="F28C28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663440" y="1298448"/>
            <a:ext cx="2971800" cy="1097280"/>
          </a:xfrm>
          <a:prstGeom prst="rect">
            <a:avLst/>
          </a:prstGeom>
          <a:solidFill>
            <a:srgbClr val="EAF2F8"/>
          </a:solidFill>
          <a:ln w="12700">
            <a:solidFill>
              <a:srgbClr val="2F75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65D"/>
                </a:solidFill>
              </a:rPr>
              <a:t>Final interpretation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365D"/>
                </a:solidFill>
              </a:rPr>
              <a:t>Department = operational working area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21040" y="1298448"/>
            <a:ext cx="2651760" cy="1097280"/>
          </a:xfrm>
          <a:prstGeom prst="rect">
            <a:avLst/>
          </a:prstGeom>
          <a:solidFill>
            <a:srgbClr val="FFF1E3"/>
          </a:solidFill>
          <a:ln w="12700">
            <a:solidFill>
              <a:srgbClr val="F28C2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8C28"/>
                </a:solidFill>
              </a:rPr>
              <a:t>Examples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28C28"/>
                </a:solidFill>
              </a:rPr>
              <a:t>CICU | OPD | Ward 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880360"/>
            <a:ext cx="3383280" cy="475488"/>
          </a:xfrm>
          <a:prstGeom prst="rect">
            <a:avLst/>
          </a:prstGeom>
          <a:solidFill>
            <a:srgbClr val="17365D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Feedback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69080" y="2880360"/>
            <a:ext cx="7452360" cy="475488"/>
          </a:xfrm>
          <a:prstGeom prst="rect">
            <a:avLst/>
          </a:prstGeom>
          <a:solidFill>
            <a:srgbClr val="17365D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 response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3355848"/>
            <a:ext cx="33832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CICU, OPD, Ward 3 should be Department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69080" y="3355848"/>
            <a:ext cx="7452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Redefined Department as operational working area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831336"/>
            <a:ext cx="338328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Nursing / Admin / Medical should not be Department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69080" y="3831336"/>
            <a:ext cx="745236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Created Work Category as a separate field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4306824"/>
            <a:ext cx="33832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Administration should be visible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69080" y="4306824"/>
            <a:ext cx="7452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Recovered and exposed Administration as Work Category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4782312"/>
            <a:ext cx="338328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Specialties should use unified names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69080" y="4782312"/>
            <a:ext cx="745236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Created canonical Specialty dictionary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Targeting Model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The model now answers five different audience-selection questions.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58400" y="653796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 Data Model | 4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22960" y="1143000"/>
            <a:ext cx="2011680" cy="50292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Facility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71800" y="114300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Where is the employee organizationally assigned?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26680" y="1143000"/>
            <a:ext cx="33832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Rashid Hospital, Dubai Hospital, AJCH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2011680" cy="502920"/>
          </a:xfrm>
          <a:prstGeom prst="rect">
            <a:avLst/>
          </a:prstGeom>
          <a:solidFill>
            <a:srgbClr val="EAF2F8"/>
          </a:solidFill>
          <a:ln w="12700">
            <a:solidFill>
              <a:srgbClr val="2F75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Department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71800" y="1892808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What is the working area or unit?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26680" y="1892808"/>
            <a:ext cx="33832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CICU, OPD, Ward 3, OR, Emergency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2642616"/>
            <a:ext cx="2011680" cy="50292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Work Category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71800" y="2642616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What workforce group does the employee belong to?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26680" y="2642616"/>
            <a:ext cx="33832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Medical, Nursing, Administration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3392424"/>
            <a:ext cx="2011680" cy="502920"/>
          </a:xfrm>
          <a:prstGeom prst="rect">
            <a:avLst/>
          </a:prstGeom>
          <a:solidFill>
            <a:srgbClr val="EAF2F8"/>
          </a:solidFill>
          <a:ln w="12700">
            <a:solidFill>
              <a:srgbClr val="2F75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Specialty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71800" y="3392424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What clinical or professional specialty is relevant?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26680" y="3392424"/>
            <a:ext cx="33832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Cardiology, Anesthesia, Pediatrics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4142232"/>
            <a:ext cx="2011680" cy="50292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Job Name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71800" y="4142232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What is the official role title?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26680" y="4142232"/>
            <a:ext cx="33832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Staff Nurse 2, Consultant, Admin Officer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4400" y="5532120"/>
            <a:ext cx="10241280" cy="548640"/>
          </a:xfrm>
          <a:prstGeom prst="rect">
            <a:avLst/>
          </a:prstGeom>
          <a:solidFill>
            <a:srgbClr val="FFF1E3"/>
          </a:solidFill>
          <a:ln w="12700">
            <a:solidFill>
              <a:srgbClr val="F28C28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Key shift: Nursing, Medical and Administration are no longer treated as Department values. They are Work Category values.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Scope and Headline Results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The model was applied to the full employee file.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58400" y="653796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 Data Model | 5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13,527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19072"/>
            <a:ext cx="2011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employee records processed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0" y="114300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49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327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0" y="1719072"/>
            <a:ext cx="2011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standardized Departments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46320" y="114300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D28D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846320" y="1719072"/>
            <a:ext cx="2011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canonical Specialties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949440" y="114300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9B6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12,637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949440" y="1719072"/>
            <a:ext cx="2011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no review required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052560" y="114300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8C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890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052560" y="1719072"/>
            <a:ext cx="2011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review required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05840" y="3154680"/>
            <a:ext cx="4846320" cy="342900"/>
          </a:xfrm>
          <a:prstGeom prst="rect">
            <a:avLst/>
          </a:prstGeom>
          <a:solidFill>
            <a:srgbClr val="17365D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Output field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52160" y="3154680"/>
            <a:ext cx="5166360" cy="342900"/>
          </a:xfrm>
          <a:prstGeom prst="rect">
            <a:avLst/>
          </a:prstGeom>
          <a:solidFill>
            <a:srgbClr val="17365D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Result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497580"/>
            <a:ext cx="484632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Work Category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3497580"/>
            <a:ext cx="516636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6 values including Unknown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840480"/>
            <a:ext cx="4846320" cy="3429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Unknown Work Category remaining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52160" y="3840480"/>
            <a:ext cx="5166360" cy="3429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40 employees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4183380"/>
            <a:ext cx="484632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Administration final population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52160" y="4183380"/>
            <a:ext cx="516636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3,384 employees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4526280"/>
            <a:ext cx="4846320" cy="3429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Administration recovered from blank source category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52160" y="4526280"/>
            <a:ext cx="5166360" cy="3429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730 employees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4869180"/>
            <a:ext cx="484632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Source data preservation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52160" y="4869180"/>
            <a:ext cx="516636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Original fields retained beside final fields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 Data Reality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The file has a structured schema, but field meaning is not consistently used.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58400" y="653796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 Data Model | 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2926080" cy="914400"/>
          </a:xfrm>
          <a:prstGeom prst="rect">
            <a:avLst/>
          </a:prstGeom>
          <a:solidFill>
            <a:srgbClr val="EAF2F8"/>
          </a:solidFill>
          <a:ln w="12700">
            <a:solidFill>
              <a:srgbClr val="2F75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65D"/>
                </a:solidFill>
              </a:rPr>
              <a:t>Structured schema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365D"/>
                </a:solidFill>
              </a:rPr>
              <a:t>Same columns exist across employees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1234440"/>
            <a:ext cx="2926080" cy="914400"/>
          </a:xfrm>
          <a:prstGeom prst="rect">
            <a:avLst/>
          </a:prstGeom>
          <a:solidFill>
            <a:srgbClr val="FFF1E3"/>
          </a:solidFill>
          <a:ln w="12700">
            <a:solidFill>
              <a:srgbClr val="F28C2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Inconsistent meaning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Different staff groups use the fields differently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21040" y="1234440"/>
            <a:ext cx="2926080" cy="914400"/>
          </a:xfrm>
          <a:prstGeom prst="rect">
            <a:avLst/>
          </a:prstGeom>
          <a:solidFill>
            <a:srgbClr val="FEE2E2"/>
          </a:solidFill>
          <a:ln w="12700">
            <a:solidFill>
              <a:srgbClr val="C2410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Targeting risk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Simple filtering can include or exclude the wrong employees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94760" y="1691640"/>
            <a:ext cx="6400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543800" y="1691640"/>
            <a:ext cx="6400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005840" y="2926080"/>
            <a:ext cx="2926080" cy="466344"/>
          </a:xfrm>
          <a:prstGeom prst="rect">
            <a:avLst/>
          </a:prstGeom>
          <a:solidFill>
            <a:srgbClr val="17365D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Example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0" y="2926080"/>
            <a:ext cx="7040880" cy="466344"/>
          </a:xfrm>
          <a:prstGeom prst="rect">
            <a:avLst/>
          </a:prstGeom>
          <a:solidFill>
            <a:srgbClr val="17365D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Why this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3392424"/>
            <a:ext cx="292608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HR Department = Nursing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0" y="3392424"/>
            <a:ext cx="704088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This describes workforce category, not the working department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858768"/>
            <a:ext cx="2926080" cy="466344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Unit = CICU Unit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31920" y="3858768"/>
            <a:ext cx="7040880" cy="466344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This is the working Department for announcement filtering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4325112"/>
            <a:ext cx="292608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Work Speciality = Anaesthesia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1920" y="4325112"/>
            <a:ext cx="704088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This should feed canonical Specialty = Anesthesia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4791456"/>
            <a:ext cx="2926080" cy="466344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Staff Category blank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0" y="4791456"/>
            <a:ext cx="7040880" cy="466344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Can be recovered only where evidence is strong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Latest Model Works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A controlled transformation layer sits between raw HR data and the Announcement System.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58400" y="653796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 Data Model | 7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27432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Original HR Data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Department | Unit | Sub Unit | Staff Category | Work Speciality | Job Name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566160" y="1755648"/>
            <a:ext cx="685800" cy="0"/>
          </a:xfrm>
          <a:prstGeom prst="line">
            <a:avLst/>
          </a:prstGeom>
          <a:noFill/>
          <a:ln w="1905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389120" y="1234440"/>
            <a:ext cx="2971800" cy="1051560"/>
          </a:xfrm>
          <a:prstGeom prst="rect">
            <a:avLst/>
          </a:prstGeom>
          <a:solidFill>
            <a:srgbClr val="EAF2F8"/>
          </a:solidFill>
          <a:ln w="12700">
            <a:solidFill>
              <a:srgbClr val="2F75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65D"/>
                </a:solidFill>
              </a:rPr>
              <a:t>Standardization Engine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7365D"/>
                </a:solidFill>
              </a:rPr>
              <a:t>Operational rules + controlled mappings + provenance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98080" y="1755648"/>
            <a:ext cx="685800" cy="0"/>
          </a:xfrm>
          <a:prstGeom prst="line">
            <a:avLst/>
          </a:prstGeom>
          <a:noFill/>
          <a:ln w="1905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8321040" y="1234440"/>
            <a:ext cx="2880360" cy="1051560"/>
          </a:xfrm>
          <a:prstGeom prst="rect">
            <a:avLst/>
          </a:prstGeom>
          <a:solidFill>
            <a:srgbClr val="FFF1E3"/>
          </a:solidFill>
          <a:ln w="12700">
            <a:solidFill>
              <a:srgbClr val="F28C2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8C28"/>
                </a:solidFill>
              </a:rPr>
              <a:t>Final Audience Layer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28C28"/>
                </a:solidFill>
              </a:rPr>
              <a:t>Facility | Department | Work Category | Specialty | Job Name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2057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74151"/>
                </a:solidFill>
              </a:rPr>
              <a:t>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74151"/>
                </a:solidFill>
              </a:rPr>
              <a:t>Facility mapping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74151"/>
                </a:solidFill>
              </a:rPr>
              <a:t>standardize location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44368" y="3291840"/>
            <a:ext cx="2057400" cy="1143000"/>
          </a:xfrm>
          <a:prstGeom prst="rect">
            <a:avLst/>
          </a:prstGeom>
          <a:solidFill>
            <a:srgbClr val="EAF2F8"/>
          </a:solidFill>
          <a:ln w="12700">
            <a:solidFill>
              <a:srgbClr val="2F75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365D"/>
                </a:solidFill>
              </a:rPr>
              <a:t>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7365D"/>
                </a:solidFill>
              </a:rPr>
              <a:t>Department rules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7365D"/>
                </a:solidFill>
              </a:rPr>
              <a:t>derive working area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157216" y="3291840"/>
            <a:ext cx="2057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74151"/>
                </a:solidFill>
              </a:rPr>
              <a:t>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74151"/>
                </a:solidFill>
              </a:rPr>
              <a:t>Work Category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74151"/>
                </a:solidFill>
              </a:rPr>
              <a:t>use source or recovery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70064" y="3291840"/>
            <a:ext cx="2057400" cy="1143000"/>
          </a:xfrm>
          <a:prstGeom prst="rect">
            <a:avLst/>
          </a:prstGeom>
          <a:solidFill>
            <a:srgbClr val="EAF2F8"/>
          </a:solidFill>
          <a:ln w="12700">
            <a:solidFill>
              <a:srgbClr val="2F75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365D"/>
                </a:solidFill>
              </a:rPr>
              <a:t>4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7365D"/>
                </a:solidFill>
              </a:rPr>
              <a:t>Specialty master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7365D"/>
                </a:solidFill>
              </a:rPr>
              <a:t>canonical names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582912" y="3291840"/>
            <a:ext cx="2057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74151"/>
                </a:solidFill>
              </a:rPr>
              <a:t>5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74151"/>
                </a:solidFill>
              </a:rPr>
              <a:t>Review queue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74151"/>
                </a:solidFill>
              </a:rPr>
              <a:t>flag uncertain records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Department Definition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Department is now the employee’s operational working area, not the HR workforce group.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58400" y="653796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 Data Model | 8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10515600" cy="502920"/>
          </a:xfrm>
          <a:prstGeom prst="rect">
            <a:avLst/>
          </a:prstGeom>
          <a:solidFill>
            <a:srgbClr val="FFF1E3"/>
          </a:solidFill>
          <a:ln w="12700">
            <a:solidFill>
              <a:srgbClr val="F28C28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Examples requested by management are now treated as Department values: CICU, OPD and Ward 3.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920240"/>
            <a:ext cx="5577840" cy="464820"/>
          </a:xfrm>
          <a:prstGeom prst="rect">
            <a:avLst/>
          </a:prstGeom>
          <a:solidFill>
            <a:srgbClr val="17365D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Source hierarchy evidence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0" y="1920240"/>
            <a:ext cx="4434840" cy="464820"/>
          </a:xfrm>
          <a:prstGeom prst="rect">
            <a:avLst/>
          </a:prstGeom>
          <a:solidFill>
            <a:srgbClr val="17365D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Final Department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385060"/>
            <a:ext cx="5577840" cy="4648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AJH - Nursing - Inpatient - CICU Unit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2385060"/>
            <a:ext cx="4434840" cy="4648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CICU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849880"/>
            <a:ext cx="5577840" cy="4648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AJH - Nursing - Ambulatory - OPD Unit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2849880"/>
            <a:ext cx="4434840" cy="4648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OPD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3314700"/>
            <a:ext cx="5577840" cy="4648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AJH - Nursing - Inpatient - Medical - Pediatric Ward3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3314700"/>
            <a:ext cx="4434840" cy="4648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Ward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779520"/>
            <a:ext cx="5577840" cy="4648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Operating Room / OR Unit / OR &amp; Procedural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3779520"/>
            <a:ext cx="4434840" cy="4648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4244340"/>
            <a:ext cx="5577840" cy="4648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Emergency / Medical Emergency / Surgical Emergency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4244340"/>
            <a:ext cx="4434840" cy="4648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Emergency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53492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Department answers: “where does the employee work operationally?”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Department Derivation Rules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The model prioritizes the most specific operational signal in the hierarchy.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58400" y="653796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 Data Model | 9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508760" cy="804672"/>
          </a:xfrm>
          <a:prstGeom prst="rect">
            <a:avLst/>
          </a:prstGeom>
          <a:solidFill>
            <a:srgbClr val="EAF2F8"/>
          </a:solidFill>
          <a:ln w="12700">
            <a:solidFill>
              <a:srgbClr val="2F75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65D"/>
                </a:solidFill>
              </a:rPr>
              <a:t>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365D"/>
                </a:solidFill>
              </a:rPr>
              <a:t>Sub Unit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12848" y="1828800"/>
            <a:ext cx="4114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697480" y="1417320"/>
            <a:ext cx="1508760" cy="804672"/>
          </a:xfrm>
          <a:prstGeom prst="rect">
            <a:avLst/>
          </a:prstGeom>
          <a:solidFill>
            <a:srgbClr val="EAF2F8"/>
          </a:solidFill>
          <a:ln w="12700">
            <a:solidFill>
              <a:srgbClr val="2F75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65D"/>
                </a:solidFill>
              </a:rPr>
              <a:t>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365D"/>
                </a:solidFill>
              </a:rPr>
              <a:t>Unit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70248" y="1828800"/>
            <a:ext cx="4114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754880" y="1417320"/>
            <a:ext cx="1508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</a:rPr>
              <a:t>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</a:rPr>
              <a:t>Section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27648" y="1828800"/>
            <a:ext cx="4114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812280" y="1417320"/>
            <a:ext cx="1508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</a:rPr>
              <a:t>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</a:rPr>
              <a:t>Source Department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85048" y="1828800"/>
            <a:ext cx="4114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869680" y="1417320"/>
            <a:ext cx="1508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</a:rPr>
              <a:t>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</a:rPr>
              <a:t>Organization Name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788920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28C28"/>
                </a:solidFill>
              </a:rPr>
              <a:t>CONTROLLED OPERATIONAL PATTERNS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22960" y="3090672"/>
            <a:ext cx="4937760" cy="396240"/>
          </a:xfrm>
          <a:prstGeom prst="rect">
            <a:avLst/>
          </a:prstGeom>
          <a:solidFill>
            <a:srgbClr val="2F75B5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Pattern family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760720" y="3090672"/>
            <a:ext cx="5486400" cy="396240"/>
          </a:xfrm>
          <a:prstGeom prst="rect">
            <a:avLst/>
          </a:prstGeom>
          <a:solidFill>
            <a:srgbClr val="2F75B5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Standard Department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3486912"/>
            <a:ext cx="493776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CICU / PICU / NICU / ICU / MICU / SICU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760720" y="3486912"/>
            <a:ext cx="548640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Critical-care department labels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3883152"/>
            <a:ext cx="4937760" cy="39624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OPD / Outpatient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760720" y="3883152"/>
            <a:ext cx="5486400" cy="39624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OPD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4279392"/>
            <a:ext cx="493776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Ward number patterns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760720" y="4279392"/>
            <a:ext cx="548640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Ward 1, Ward 2, Ward 3, etc.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2960" y="4675632"/>
            <a:ext cx="4937760" cy="39624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OR / Operating Room / Operating Theatre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760720" y="4675632"/>
            <a:ext cx="5486400" cy="39624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OR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2960" y="5071872"/>
            <a:ext cx="493776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Emergency / Medical Emergency / Surgical Emergency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760720" y="5071872"/>
            <a:ext cx="548640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Emergency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Department Output View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The model creates working departments that are meaningful for communications.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58400" y="653796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 Data Model | 10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40080" y="1161288"/>
            <a:ext cx="15544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OPD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331720" y="1252728"/>
            <a:ext cx="2926080" cy="466344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49240" y="1161288"/>
            <a:ext cx="5943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741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847088"/>
            <a:ext cx="15544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Emergency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31720" y="1938528"/>
            <a:ext cx="2673355" cy="466344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96515" y="1847088"/>
            <a:ext cx="5943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677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532888"/>
            <a:ext cx="15544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Medical Fitness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31720" y="2624328"/>
            <a:ext cx="2432477" cy="466344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55637" y="2532888"/>
            <a:ext cx="5943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616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3218688"/>
            <a:ext cx="15544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Primary Care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31720" y="3310128"/>
            <a:ext cx="1788818" cy="466344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211978" y="3218688"/>
            <a:ext cx="5943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453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3904488"/>
            <a:ext cx="15544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OR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331720" y="3995928"/>
            <a:ext cx="1346550" cy="466344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769710" y="3904488"/>
            <a:ext cx="5943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341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4590288"/>
            <a:ext cx="15544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ICU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331720" y="4681728"/>
            <a:ext cx="1263624" cy="466344"/>
          </a:xfrm>
          <a:prstGeom prst="rect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686784" y="4590288"/>
            <a:ext cx="5943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320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1325880"/>
            <a:ext cx="3200400" cy="398417"/>
          </a:xfrm>
          <a:prstGeom prst="rect">
            <a:avLst/>
          </a:prstGeom>
          <a:solidFill>
            <a:srgbClr val="17365D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Result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0" y="1325880"/>
            <a:ext cx="1600200" cy="398417"/>
          </a:xfrm>
          <a:prstGeom prst="rect">
            <a:avLst/>
          </a:prstGeom>
          <a:solidFill>
            <a:srgbClr val="17365D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Count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1724297"/>
            <a:ext cx="3200400" cy="398417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Distinct standardized Departments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0" y="1724297"/>
            <a:ext cx="1600200" cy="398417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327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2122714"/>
            <a:ext cx="3200400" cy="398417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Unassigned Department records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0" y="2122714"/>
            <a:ext cx="1600200" cy="398417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531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0" y="2521131"/>
            <a:ext cx="3200400" cy="398417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OPD records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01200" y="2521131"/>
            <a:ext cx="1600200" cy="398417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741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0" y="2919549"/>
            <a:ext cx="3200400" cy="398417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Emergency records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01200" y="2919549"/>
            <a:ext cx="1600200" cy="398417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677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0" y="3317966"/>
            <a:ext cx="3200400" cy="398417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OR records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601200" y="3317966"/>
            <a:ext cx="1600200" cy="398417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341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0" y="3716383"/>
            <a:ext cx="3200400" cy="398417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ICU records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601200" y="3716383"/>
            <a:ext cx="1600200" cy="398417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320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46520" y="4434840"/>
            <a:ext cx="4663440" cy="822960"/>
          </a:xfrm>
          <a:prstGeom prst="rect">
            <a:avLst/>
          </a:prstGeom>
          <a:solidFill>
            <a:srgbClr val="FFF1E3"/>
          </a:solidFill>
          <a:ln w="12700">
            <a:solidFill>
              <a:srgbClr val="F28C28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Unassigned Department does not mean the employee is invalid; it means the source hierarchy does not provide an operational working area at the required level.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 Category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Work Category separates workforce type from Department.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58400" y="653796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 Data Model | 11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1161288"/>
            <a:ext cx="1554480" cy="6629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Nursing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0" y="1252728"/>
            <a:ext cx="3246120" cy="489204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23560" y="1161288"/>
            <a:ext cx="594360" cy="6629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4,576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869948"/>
            <a:ext cx="1554480" cy="6629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Administration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0" y="1961388"/>
            <a:ext cx="2400540" cy="489204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77980" y="1869948"/>
            <a:ext cx="594360" cy="6629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3,384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578608"/>
            <a:ext cx="1554480" cy="6629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Medical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0" y="2670048"/>
            <a:ext cx="1920999" cy="489204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298439" y="2578608"/>
            <a:ext cx="594360" cy="6629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2,708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3287268"/>
            <a:ext cx="1554480" cy="6629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Para Medical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86000" y="3378708"/>
            <a:ext cx="1911068" cy="489204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288508" y="3287268"/>
            <a:ext cx="594360" cy="6629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2,694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3995928"/>
            <a:ext cx="1554480" cy="6629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Faculty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86000" y="4087368"/>
            <a:ext cx="88672" cy="489204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466112" y="3995928"/>
            <a:ext cx="594360" cy="6629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125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4704588"/>
            <a:ext cx="1554480" cy="6629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Unknown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86000" y="4796028"/>
            <a:ext cx="28375" cy="489204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405815" y="4704588"/>
            <a:ext cx="594360" cy="6629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40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75120" y="1234440"/>
            <a:ext cx="2606040" cy="411480"/>
          </a:xfrm>
          <a:prstGeom prst="rect">
            <a:avLst/>
          </a:prstGeom>
          <a:solidFill>
            <a:srgbClr val="17365D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Work Category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281160" y="1234440"/>
            <a:ext cx="1645920" cy="411480"/>
          </a:xfrm>
          <a:prstGeom prst="rect">
            <a:avLst/>
          </a:prstGeom>
          <a:solidFill>
            <a:srgbClr val="17365D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Employees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75120" y="1645920"/>
            <a:ext cx="26060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Nursing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81160" y="164592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4,576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75120" y="2057400"/>
            <a:ext cx="260604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Administration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281160" y="2057400"/>
            <a:ext cx="164592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3,384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75120" y="2468880"/>
            <a:ext cx="26060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Medical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281160" y="246888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2,708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75120" y="2880360"/>
            <a:ext cx="260604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Para Medical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281160" y="2880360"/>
            <a:ext cx="164592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2,694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75120" y="3291840"/>
            <a:ext cx="26060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Faculty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281160" y="329184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125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675120" y="3703320"/>
            <a:ext cx="260604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Unknown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281160" y="3703320"/>
            <a:ext cx="164592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40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675120" y="4526280"/>
            <a:ext cx="4251960" cy="777240"/>
          </a:xfrm>
          <a:prstGeom prst="rect">
            <a:avLst/>
          </a:prstGeom>
          <a:solidFill>
            <a:srgbClr val="FFF1E3"/>
          </a:solidFill>
          <a:ln w="12700">
            <a:solidFill>
              <a:srgbClr val="F28C28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End users can now target “All Administration employees” or “All Nursing employees” using Work Category directly.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 Category Recovery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Missing Staff Category records were recovered only where controlled evidence was strong.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58400" y="653796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 Data Model | 12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8C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1,570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1719072"/>
            <a:ext cx="2103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source Staff Category blank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063240" y="114300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9B6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1,530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063240" y="1719072"/>
            <a:ext cx="2331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recovered into a Work Category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23560" y="114300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241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623560" y="1719072"/>
            <a:ext cx="17830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remain Unknown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26680" y="114300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730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726680" y="1719072"/>
            <a:ext cx="2194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recovered as Administration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3200400"/>
            <a:ext cx="2377440" cy="45720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Recovery logic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29000" y="3429000"/>
            <a:ext cx="457200" cy="0"/>
          </a:xfrm>
          <a:prstGeom prst="line">
            <a:avLst/>
          </a:prstGeom>
          <a:noFill/>
          <a:ln w="1905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977640" y="2971800"/>
            <a:ext cx="2834640" cy="914400"/>
          </a:xfrm>
          <a:prstGeom prst="rect">
            <a:avLst/>
          </a:prstGeom>
          <a:solidFill>
            <a:srgbClr val="EAF2F8"/>
          </a:solidFill>
          <a:ln w="12700">
            <a:solidFill>
              <a:srgbClr val="2F75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65D"/>
                </a:solidFill>
              </a:rPr>
              <a:t>Job Name + Department context + Job Classification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49440" y="3429000"/>
            <a:ext cx="457200" cy="0"/>
          </a:xfrm>
          <a:prstGeom prst="line">
            <a:avLst/>
          </a:prstGeom>
          <a:noFill/>
          <a:ln w="1905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498080" y="2971800"/>
            <a:ext cx="2926080" cy="914400"/>
          </a:xfrm>
          <a:prstGeom prst="rect">
            <a:avLst/>
          </a:prstGeom>
          <a:solidFill>
            <a:srgbClr val="FFF1E3"/>
          </a:solidFill>
          <a:ln w="12700">
            <a:solidFill>
              <a:srgbClr val="F28C2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High-confidence category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OR keep in Review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4892040"/>
            <a:ext cx="9875520" cy="658368"/>
          </a:xfrm>
          <a:prstGeom prst="rect">
            <a:avLst/>
          </a:prstGeom>
          <a:solidFill>
            <a:srgbClr val="FFF1E3"/>
          </a:solidFill>
          <a:ln w="12700">
            <a:solidFill>
              <a:srgbClr val="F28C28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The model does not rely on Job Name alone when the title is ambiguous. Ambiguous records remain in Review.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Administration Clarification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Administration is now explicit and visible in the final audience model.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58400" y="653796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 Data Model | 13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3,384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719072"/>
            <a:ext cx="22860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final Administration records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0" y="114300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8C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730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0" y="1719072"/>
            <a:ext cx="24688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recovered from blank source category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897880" y="114300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9B6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897880" y="1719072"/>
            <a:ext cx="2194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confidence for recovered admin rules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2971800"/>
            <a:ext cx="4297680" cy="105156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Before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Administrative roles with blank Staff Category could appear as Unknown / Review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40680" y="3520440"/>
            <a:ext cx="594360" cy="0"/>
          </a:xfrm>
          <a:prstGeom prst="line">
            <a:avLst/>
          </a:prstGeom>
          <a:noFill/>
          <a:ln w="19050">
            <a:solidFill>
              <a:srgbClr val="F28C28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263640" y="2971800"/>
            <a:ext cx="4434840" cy="1051560"/>
          </a:xfrm>
          <a:prstGeom prst="rect">
            <a:avLst/>
          </a:prstGeom>
          <a:solidFill>
            <a:srgbClr val="EAF2F8"/>
          </a:solidFill>
          <a:ln w="12700">
            <a:solidFill>
              <a:srgbClr val="2F75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65D"/>
                </a:solidFill>
              </a:rPr>
              <a:t>Now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365D"/>
                </a:solidFill>
              </a:rPr>
              <a:t>Administration is populated as Work Category where evidence is strong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4663440"/>
            <a:ext cx="6766560" cy="354330"/>
          </a:xfrm>
          <a:prstGeom prst="rect">
            <a:avLst/>
          </a:prstGeom>
          <a:solidFill>
            <a:srgbClr val="2F75B5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Example evidence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26680" y="4663440"/>
            <a:ext cx="3108960" cy="354330"/>
          </a:xfrm>
          <a:prstGeom prst="rect">
            <a:avLst/>
          </a:prstGeom>
          <a:solidFill>
            <a:srgbClr val="2F75B5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Final Work Category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5017770"/>
            <a:ext cx="6766560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Administrative Officer / Clerk / Coordinator / Finance / IT support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26680" y="5017770"/>
            <a:ext cx="3108960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Administration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0120" y="5372100"/>
            <a:ext cx="6766560" cy="35433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Specialist with non-clinical department context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26680" y="5372100"/>
            <a:ext cx="3108960" cy="35433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Administration where supported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" y="5726430"/>
            <a:ext cx="6766560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Ambiguous job title without supporting context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26680" y="5726430"/>
            <a:ext cx="3108960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Unknown / Review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Specialty Standardization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A single canonical Specialty field is used across the full population.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58400" y="653796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 Data Model | 14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22960" y="1024128"/>
            <a:ext cx="10607040" cy="502920"/>
          </a:xfrm>
          <a:prstGeom prst="rect">
            <a:avLst/>
          </a:prstGeom>
          <a:solidFill>
            <a:srgbClr val="FFF1E3"/>
          </a:solidFill>
          <a:ln w="12700">
            <a:solidFill>
              <a:srgbClr val="F28C28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Specialty values are no longer allowed to fragment across synonyms, spelling variants, or composite labels.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" y="1874520"/>
            <a:ext cx="2103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Anaesthesia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2606040"/>
            <a:ext cx="2103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Anesthesia &amp; Perioperative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2221992"/>
            <a:ext cx="2240280" cy="640080"/>
          </a:xfrm>
          <a:prstGeom prst="rect">
            <a:avLst/>
          </a:prstGeom>
          <a:solidFill>
            <a:srgbClr val="EAF2F8"/>
          </a:solidFill>
          <a:ln w="12700">
            <a:solidFill>
              <a:srgbClr val="2F75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Anesthesia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37560" y="2148840"/>
            <a:ext cx="1005840" cy="274320"/>
          </a:xfrm>
          <a:prstGeom prst="line">
            <a:avLst/>
          </a:prstGeom>
          <a:noFill/>
          <a:ln w="19050">
            <a:solidFill>
              <a:srgbClr val="F28C2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37560" y="2880360"/>
            <a:ext cx="1005840" cy="-320040"/>
          </a:xfrm>
          <a:prstGeom prst="line">
            <a:avLst/>
          </a:prstGeom>
          <a:noFill/>
          <a:ln w="19050">
            <a:solidFill>
              <a:srgbClr val="F28C28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315200" y="1691640"/>
            <a:ext cx="2423160" cy="533400"/>
          </a:xfrm>
          <a:prstGeom prst="rect">
            <a:avLst/>
          </a:prstGeom>
          <a:solidFill>
            <a:srgbClr val="17365D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Raw / Existing values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738360" y="1691640"/>
            <a:ext cx="1371600" cy="533400"/>
          </a:xfrm>
          <a:prstGeom prst="rect">
            <a:avLst/>
          </a:prstGeom>
          <a:solidFill>
            <a:srgbClr val="17365D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Canonical Specialty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0" y="2225040"/>
            <a:ext cx="2423160" cy="53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Anaesthesia / Anesthesia &amp; Perioperative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738360" y="2225040"/>
            <a:ext cx="1371600" cy="53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Anesthesia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315200" y="2758440"/>
            <a:ext cx="2423160" cy="5334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E.N.T. / ENT / Otolaryngology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738360" y="2758440"/>
            <a:ext cx="1371600" cy="5334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315200" y="3291840"/>
            <a:ext cx="2423160" cy="53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General Surgery / Surgical Services / Surgery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738360" y="3291840"/>
            <a:ext cx="1371600" cy="53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General Surgery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0" y="3825240"/>
            <a:ext cx="2423160" cy="5334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Trauma &amp; Orthopedic / Orthopedics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738360" y="3825240"/>
            <a:ext cx="1371600" cy="5334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Orthopedics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0" y="4358640"/>
            <a:ext cx="2423160" cy="53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Family Medicine / Primary Care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738360" y="4358640"/>
            <a:ext cx="1371600" cy="53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Family Medicine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05840" y="544068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Canonical Specialty enables consistent targeting across all facilities and staff groups.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Specialty Output View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The final model consolidates multiple source labels into 43 canonical specialties.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58400" y="653796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 Data Model | 15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40080" y="1115568"/>
            <a:ext cx="1554480" cy="58129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Medical Fitness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331720" y="1207008"/>
            <a:ext cx="3154680" cy="407561"/>
          </a:xfrm>
          <a:prstGeom prst="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77840" y="1115568"/>
            <a:ext cx="594360" cy="58129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</a:rPr>
              <a:t>1,004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1742585"/>
            <a:ext cx="1554480" cy="58129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Emergency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331720" y="1834025"/>
            <a:ext cx="2466558" cy="407561"/>
          </a:xfrm>
          <a:prstGeom prst="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89718" y="1742585"/>
            <a:ext cx="594360" cy="58129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</a:rPr>
              <a:t>785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2369602"/>
            <a:ext cx="1554480" cy="58129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Pediatrics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331720" y="2461042"/>
            <a:ext cx="2460273" cy="407561"/>
          </a:xfrm>
          <a:prstGeom prst="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83433" y="2369602"/>
            <a:ext cx="594360" cy="58129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</a:rPr>
              <a:t>783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0080" y="2996619"/>
            <a:ext cx="1554480" cy="58129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Family Medicine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331720" y="3088059"/>
            <a:ext cx="2293741" cy="407561"/>
          </a:xfrm>
          <a:prstGeom prst="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16901" y="2996619"/>
            <a:ext cx="594360" cy="58129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</a:rPr>
              <a:t>730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0080" y="3623637"/>
            <a:ext cx="1554480" cy="58129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Intensive Care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331720" y="3715077"/>
            <a:ext cx="2164915" cy="407561"/>
          </a:xfrm>
          <a:prstGeom prst="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88075" y="3623637"/>
            <a:ext cx="594360" cy="58129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</a:rPr>
              <a:t>689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40080" y="4250654"/>
            <a:ext cx="1554480" cy="58129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Dentistry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331720" y="4342094"/>
            <a:ext cx="1589908" cy="407561"/>
          </a:xfrm>
          <a:prstGeom prst="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013068" y="4250654"/>
            <a:ext cx="594360" cy="58129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</a:rPr>
              <a:t>506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0080" y="4877671"/>
            <a:ext cx="1554480" cy="58129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Anesthesia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331720" y="4969111"/>
            <a:ext cx="1489361" cy="407561"/>
          </a:xfrm>
          <a:prstGeom prst="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912521" y="4877671"/>
            <a:ext cx="594360" cy="58129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</a:rPr>
              <a:t>474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629400" y="1325880"/>
            <a:ext cx="2971800" cy="426720"/>
          </a:xfrm>
          <a:prstGeom prst="rect">
            <a:avLst/>
          </a:prstGeom>
          <a:solidFill>
            <a:srgbClr val="17365D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Specialty result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0" y="1325880"/>
            <a:ext cx="1463040" cy="426720"/>
          </a:xfrm>
          <a:prstGeom prst="rect">
            <a:avLst/>
          </a:prstGeom>
          <a:solidFill>
            <a:srgbClr val="17365D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Count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29400" y="1752600"/>
            <a:ext cx="2971800" cy="426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Distinct canonical Specialties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0" y="1752600"/>
            <a:ext cx="1463040" cy="426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43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29400" y="2179320"/>
            <a:ext cx="2971800" cy="4267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Anesthesia records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01200" y="2179320"/>
            <a:ext cx="1463040" cy="4267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474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29400" y="2606040"/>
            <a:ext cx="2971800" cy="426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Cardiology records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01200" y="2606040"/>
            <a:ext cx="1463040" cy="426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342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29400" y="3032760"/>
            <a:ext cx="2971800" cy="4267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Pediatrics records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601200" y="3032760"/>
            <a:ext cx="1463040" cy="4267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783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29400" y="3459480"/>
            <a:ext cx="2971800" cy="426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Intensive Care records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601200" y="3459480"/>
            <a:ext cx="1463040" cy="426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689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29400" y="4343400"/>
            <a:ext cx="4434840" cy="868680"/>
          </a:xfrm>
          <a:prstGeom prst="rect">
            <a:avLst/>
          </a:prstGeom>
          <a:solidFill>
            <a:srgbClr val="FFF1E3"/>
          </a:solidFill>
          <a:ln w="12700">
            <a:solidFill>
              <a:srgbClr val="F28C28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The Specialty field is designed for clinical/professional targeting; operational labels such as CICU, OPD and Ward 3 remain in Department.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Queue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The model isolates genuinely uncertain records instead of forcing a value.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58400" y="653796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 Data Model | 16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9B6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12,637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673352"/>
            <a:ext cx="22860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No Review Required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46120" y="109728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8C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890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46120" y="1673352"/>
            <a:ext cx="1920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Review Required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0" y="109728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8C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6.58%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0" y="1673352"/>
            <a:ext cx="2011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of population for review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2807208"/>
            <a:ext cx="15544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Department unavailable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514600" y="2898648"/>
            <a:ext cx="3063240" cy="466344"/>
          </a:xfrm>
          <a:prstGeom prst="rect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669280" y="2807208"/>
            <a:ext cx="5943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</a:rPr>
              <a:t>531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22960" y="3493008"/>
            <a:ext cx="15544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Clinical specialty missing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14600" y="3584448"/>
            <a:ext cx="1776795" cy="466344"/>
          </a:xfrm>
          <a:prstGeom prst="rect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382835" y="3493008"/>
            <a:ext cx="5943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</a:rPr>
              <a:t>308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22960" y="4178808"/>
            <a:ext cx="15544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Work Category unresolved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514600" y="4270248"/>
            <a:ext cx="230753" cy="466344"/>
          </a:xfrm>
          <a:prstGeom prst="rect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836793" y="4178808"/>
            <a:ext cx="5943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</a:rPr>
              <a:t>40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22960" y="4864608"/>
            <a:ext cx="15544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Medium-confidence category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14600" y="4956048"/>
            <a:ext cx="109607" cy="466344"/>
          </a:xfrm>
          <a:prstGeom prst="rect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715647" y="4864608"/>
            <a:ext cx="5943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</a:rPr>
              <a:t>19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675120" y="2788920"/>
            <a:ext cx="434340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</a:rPr>
              <a:t>• No guessing where Work Category remains unresolved.
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</a:rPr>
              <a:t>• Department must be available at the required operational level.
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</a:rPr>
              <a:t>• Medical and Para Medical records require sufficient specialty evidence.
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</a:rPr>
              <a:t>• Medium-confidence category recovery is flagged for validation.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Audiences Will Be Selected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End users filter using the final business-facing fields.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58400" y="653796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 Data Model | 17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4023360" cy="525780"/>
          </a:xfrm>
          <a:prstGeom prst="rect">
            <a:avLst/>
          </a:prstGeom>
          <a:solidFill>
            <a:srgbClr val="17365D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Audience request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00600" y="1234440"/>
            <a:ext cx="6629400" cy="525780"/>
          </a:xfrm>
          <a:prstGeom prst="rect">
            <a:avLst/>
          </a:prstGeom>
          <a:solidFill>
            <a:srgbClr val="17365D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Filter logic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760220"/>
            <a:ext cx="4023360" cy="5257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All employees in CICU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00600" y="1760220"/>
            <a:ext cx="6629400" cy="5257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Department = CICU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4023360" cy="5257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All nurses in CICU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2286000"/>
            <a:ext cx="6629400" cy="5257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Department = CICU + Work Category = Nursing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811780"/>
            <a:ext cx="4023360" cy="5257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All Administration employees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2811780"/>
            <a:ext cx="6629400" cy="5257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Work Category = Administration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337560"/>
            <a:ext cx="4023360" cy="5257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All Anesthesia employees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3337560"/>
            <a:ext cx="6629400" cy="5257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Specialty = Anesthesia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863340"/>
            <a:ext cx="4023360" cy="5257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Anesthesia nurses only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3863340"/>
            <a:ext cx="6629400" cy="5257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Specialty = Anesthesia + Work Category = Nursing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4389120"/>
            <a:ext cx="4023360" cy="5257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All Staff Nurse 2 employees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4389120"/>
            <a:ext cx="6629400" cy="5257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Job Name = Staff Nurse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914900"/>
            <a:ext cx="4023360" cy="5257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All employees at Rashid Hospital OPD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4914900"/>
            <a:ext cx="6629400" cy="5257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Facility = Rashid Hospital + Department = OPD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5715000"/>
            <a:ext cx="10241280" cy="502920"/>
          </a:xfrm>
          <a:prstGeom prst="rect">
            <a:avLst/>
          </a:prstGeom>
          <a:solidFill>
            <a:srgbClr val="FFF1E3"/>
          </a:solidFill>
          <a:ln w="12700">
            <a:solidFill>
              <a:srgbClr val="F28C28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The final model supports both broad communications and very targeted combinations without relying on raw HR field interpretation.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Examples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Examples show how raw HR signals become clean audience fields.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58400" y="653796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 Data Model | 18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2423160" cy="941832"/>
          </a:xfrm>
          <a:prstGeom prst="rect">
            <a:avLst/>
          </a:prstGeom>
          <a:solidFill>
            <a:srgbClr val="2F75B5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Scenario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3017520" y="1143000"/>
            <a:ext cx="4343400" cy="941832"/>
          </a:xfrm>
          <a:prstGeom prst="rect">
            <a:avLst/>
          </a:prstGeom>
          <a:solidFill>
            <a:srgbClr val="2F75B5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Source evidence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7360920" y="1143000"/>
            <a:ext cx="4206240" cy="941832"/>
          </a:xfrm>
          <a:prstGeom prst="rect">
            <a:avLst/>
          </a:prstGeom>
          <a:solidFill>
            <a:srgbClr val="2F75B5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Final output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594360" y="2084832"/>
            <a:ext cx="2423160" cy="9418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Nursing in CICU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3017520" y="2084832"/>
            <a:ext cx="4343400" cy="9418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Unit = AJH Nursing Inpatient CICU Unit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Staff Category = Nursing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7360920" y="2084832"/>
            <a:ext cx="4206240" cy="9418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Department = CICU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Work Category = Nursing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Specialty = Cardiology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4360" y="3026664"/>
            <a:ext cx="2423160" cy="94183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Nursing in Ward 3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3017520" y="3026664"/>
            <a:ext cx="4343400" cy="94183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Sub Unit = Pediatric Ward3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Staff Category = Nursing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7360920" y="3026664"/>
            <a:ext cx="4206240" cy="94183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Department = Ward 3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Work Category = Nursing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Specialty = Pediatrics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94360" y="3968496"/>
            <a:ext cx="2423160" cy="9418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Medical anesthesia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3017520" y="3968496"/>
            <a:ext cx="4343400" cy="9418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Work Speciality = Anaesthesia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7360920" y="3968496"/>
            <a:ext cx="4206240" cy="9418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Work Category = Medical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Specialty = Anesthesia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594360" y="4910328"/>
            <a:ext cx="2423160" cy="94183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Administrative role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3017520" y="4910328"/>
            <a:ext cx="4343400" cy="94183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Job Name = Administrative Officer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Staff Category blank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7360920" y="4910328"/>
            <a:ext cx="4206240" cy="94183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Work Category = Administration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Review only if evidence is insufficient</a:t>
            </a:r>
            <a:endParaRPr lang="en-US" sz="10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Auditability and Output Files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Every final value keeps source context for validation and governance.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58400" y="653796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 Data Model | 19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3383280" cy="914400"/>
          </a:xfrm>
          <a:prstGeom prst="rect">
            <a:avLst/>
          </a:prstGeom>
          <a:solidFill>
            <a:srgbClr val="EAF2F8"/>
          </a:solidFill>
          <a:ln w="12700">
            <a:solidFill>
              <a:srgbClr val="2F75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65D"/>
                </a:solidFill>
              </a:rPr>
              <a:t>Business fields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365D"/>
                </a:solidFill>
              </a:rPr>
              <a:t>Facility | Department | Work Category | Specialty | Job Name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434840" y="1234440"/>
            <a:ext cx="33832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Source context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Original HR Department | Unit | Sub Unit | Staff Category | Work Speciality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38160" y="1234440"/>
            <a:ext cx="3017520" cy="914400"/>
          </a:xfrm>
          <a:prstGeom prst="rect">
            <a:avLst/>
          </a:prstGeom>
          <a:solidFill>
            <a:srgbClr val="FFF1E3"/>
          </a:solidFill>
          <a:ln w="12700">
            <a:solidFill>
              <a:srgbClr val="F28C2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Quality fields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Review Required | Review Reason | Confidence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3657600" cy="391886"/>
          </a:xfrm>
          <a:prstGeom prst="rect">
            <a:avLst/>
          </a:prstGeom>
          <a:solidFill>
            <a:srgbClr val="17365D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File / tab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0" y="2880360"/>
            <a:ext cx="6583680" cy="391886"/>
          </a:xfrm>
          <a:prstGeom prst="rect">
            <a:avLst/>
          </a:prstGeom>
          <a:solidFill>
            <a:srgbClr val="17365D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Purpose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3272246"/>
            <a:ext cx="3657600" cy="39188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Standardized Data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0" y="3272246"/>
            <a:ext cx="6583680" cy="39188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Final employee-level audience fields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664131"/>
            <a:ext cx="3657600" cy="391886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Review Queue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0" y="3664131"/>
            <a:ext cx="6583680" cy="391886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Records requiring validation before automated targeting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4056017"/>
            <a:ext cx="3657600" cy="39188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Department Mapping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0" y="4056017"/>
            <a:ext cx="6583680" cy="39188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How raw hierarchy values map to operational Departments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447903"/>
            <a:ext cx="3657600" cy="391886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Work Category Mapping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0" y="4447903"/>
            <a:ext cx="6583680" cy="391886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How blank Staff Category records were recovered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4400" y="4839789"/>
            <a:ext cx="3657600" cy="39188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Specialty Mapping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0" y="4839789"/>
            <a:ext cx="6583680" cy="39188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Canonical specialty dictionary and mappings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4400" y="5231674"/>
            <a:ext cx="3657600" cy="391886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Methodology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0" y="5231674"/>
            <a:ext cx="6583680" cy="391886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Rule definitions and decision logic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Direction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Use the latest model as the business-facing audience layer for the Announcement System.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58400" y="653796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 Data Model | 20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2057400" cy="1143000"/>
          </a:xfrm>
          <a:prstGeom prst="rect">
            <a:avLst/>
          </a:prstGeom>
          <a:solidFill>
            <a:srgbClr val="EAF2F8"/>
          </a:solidFill>
          <a:ln w="12700">
            <a:solidFill>
              <a:srgbClr val="2F75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65D"/>
                </a:solidFill>
              </a:rPr>
              <a:t>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365D"/>
                </a:solidFill>
              </a:rPr>
              <a:t>Adopt the final five-field model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54680" y="1234440"/>
            <a:ext cx="2057400" cy="1143000"/>
          </a:xfrm>
          <a:prstGeom prst="rect">
            <a:avLst/>
          </a:prstGeom>
          <a:solidFill>
            <a:srgbClr val="FFF1E3"/>
          </a:solidFill>
          <a:ln w="12700">
            <a:solidFill>
              <a:srgbClr val="F28C2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Validate the 890 review records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32120" y="1234440"/>
            <a:ext cx="2057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Approve specialty dictionary ownership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09560" y="1234440"/>
            <a:ext cx="2423160" cy="1143000"/>
          </a:xfrm>
          <a:prstGeom prst="rect">
            <a:avLst/>
          </a:prstGeom>
          <a:solidFill>
            <a:srgbClr val="EAF2F8"/>
          </a:solidFill>
          <a:ln w="12700">
            <a:solidFill>
              <a:srgbClr val="2F75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65D"/>
                </a:solidFill>
              </a:rPr>
              <a:t>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365D"/>
                </a:solidFill>
              </a:rPr>
              <a:t>Integrate fields into the Announcement System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154680"/>
            <a:ext cx="10058400" cy="658368"/>
          </a:xfrm>
          <a:prstGeom prst="rect">
            <a:avLst/>
          </a:prstGeom>
          <a:solidFill>
            <a:srgbClr val="FFF1E3"/>
          </a:solidFill>
          <a:ln w="12700">
            <a:solidFill>
              <a:srgbClr val="F28C28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Recommended operating rule: use the five final fields for audience selection, and keep source HR fields available only for audit and validation.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4297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Final model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46634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F75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Facility + Department + Work Category + Specialty + Job Name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097280" y="557784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Clear fields. Controlled rules. Traceable targeting.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Audience Data Model for Announcement System</dc:title>
  <dc:subject>Audience Data Model for Announcement System</dc:subject>
  <dc:creator>Safaa Soliman</dc:creator>
  <cp:lastModifiedBy>Safaa Soliman</cp:lastModifiedBy>
  <cp:revision>1</cp:revision>
  <dcterms:created xsi:type="dcterms:W3CDTF">2026-08-18T07:28:05Z</dcterms:created>
  <dcterms:modified xsi:type="dcterms:W3CDTF">2026-08-18T07:28:05Z</dcterms:modified>
</cp:coreProperties>
</file>